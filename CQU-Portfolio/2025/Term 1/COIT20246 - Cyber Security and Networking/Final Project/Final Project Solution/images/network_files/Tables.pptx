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3713" autoAdjust="0"/>
  </p:normalViewPr>
  <p:slideViewPr>
    <p:cSldViewPr snapToGrid="0">
      <p:cViewPr>
        <p:scale>
          <a:sx n="50" d="100"/>
          <a:sy n="50" d="100"/>
        </p:scale>
        <p:origin x="226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E700B-553E-405D-85A1-D73876BC2DA2}" type="datetimeFigureOut">
              <a:rPr lang="en-AU" smtClean="0"/>
              <a:t>6/09/2025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C2438-169F-4656-B1F9-A564E25AD1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6873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HQ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C2438-169F-4656-B1F9-A564E25AD1A6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550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Parramatta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C2438-169F-4656-B1F9-A564E25AD1A6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5722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Newcastle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C2438-169F-4656-B1F9-A564E25AD1A6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6654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6B35F-2B67-EC65-0B56-EBBBCEF77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D17734-BE83-628D-E90E-CD79749A6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92715E-B798-3BFA-C9B2-58301D722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Wollongong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DE8FB-8AD8-6947-DC3C-AC3DE6C0D0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C2438-169F-4656-B1F9-A564E25AD1A6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744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Firewall WAN Connection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C2438-169F-4656-B1F9-A564E25AD1A6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3971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CD093-3F9A-DDA7-FE1E-C8D5D5289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59FA7-6355-61C8-8807-BEE3EF07F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229A0-CFC4-329A-0F85-CB52E2625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4A05-3D07-425C-BB5F-C82380E756E2}" type="datetimeFigureOut">
              <a:rPr lang="en-AU" smtClean="0"/>
              <a:t>6/09/2025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CE71A-36B9-270A-276A-35FAF57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B5B53-0D95-EEA7-54EE-C9D84A148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2741D-B928-4330-A887-915DC46A60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698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8145-9F77-C7E8-7438-E4C51D2FC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32B06-0069-82E5-7D32-F0959277B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42064-2B0D-DA93-95B1-9CAA71D14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4A05-3D07-425C-BB5F-C82380E756E2}" type="datetimeFigureOut">
              <a:rPr lang="en-AU" smtClean="0"/>
              <a:t>6/09/2025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55B15-4538-4E68-0D47-D624275A3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D8C5D-57AF-EF40-12D2-CF658B793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2741D-B928-4330-A887-915DC46A60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5741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85576-7139-22FE-43B6-978A15E08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7BFB9-E98C-8121-C7EA-98CAE1568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5DE79-D749-4A6D-AEE4-BFD162F01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4A05-3D07-425C-BB5F-C82380E756E2}" type="datetimeFigureOut">
              <a:rPr lang="en-AU" smtClean="0"/>
              <a:t>6/09/2025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1EEFF-4141-ACDE-9932-0C34841D2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E1B5D-04FC-40E4-77D0-F98A46162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2741D-B928-4330-A887-915DC46A60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6126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CD08B-B3BD-99C8-CB11-28540B8A0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DD2F1-32BE-7C99-A5B6-36905CDAD8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F81DD-553B-0157-DABB-D23A53D75C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11BD1-FF8B-0B07-9296-81BECFEE0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4A05-3D07-425C-BB5F-C82380E756E2}" type="datetimeFigureOut">
              <a:rPr lang="en-AU" smtClean="0"/>
              <a:t>6/09/2025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19C29-04D2-06EF-3248-228DE9AA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1ACC6-1071-ECA4-9421-73287E500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2741D-B928-4330-A887-915DC46A60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9079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B7E8A-5D44-0603-8BF9-A4C5B54EA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8AA6B-DAD9-98C3-3D56-4A9D15BF8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07AA4-E7C2-08BB-83E6-BA67EDEE4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D1B73C-A8D9-4F7C-0A27-05CA0D1F1E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C6144A-D47F-B908-315C-77BA658A8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721BF6-3C60-0F0D-87C3-A3172BD1D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4A05-3D07-425C-BB5F-C82380E756E2}" type="datetimeFigureOut">
              <a:rPr lang="en-AU" smtClean="0"/>
              <a:t>6/09/2025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0C40C2-7533-BE86-C277-B5B310D84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AEC19A-03C6-71D6-1F88-B7419EC82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2741D-B928-4330-A887-915DC46A60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9531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A5DCE-B613-59F1-956D-6B65767F2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55BBD9-9246-6334-F794-660C59C98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4A05-3D07-425C-BB5F-C82380E756E2}" type="datetimeFigureOut">
              <a:rPr lang="en-AU" smtClean="0"/>
              <a:t>6/09/2025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38B37-1ABB-4E3E-0EDC-38015A1CA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DC01F4-0B07-55B8-FF8F-F47AD5796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2741D-B928-4330-A887-915DC46A60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9834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5DD15B-E2CE-78A0-919F-21F319726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4A05-3D07-425C-BB5F-C82380E756E2}" type="datetimeFigureOut">
              <a:rPr lang="en-AU" smtClean="0"/>
              <a:t>6/09/2025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614B99-EF5D-0E47-5524-3A4482365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4867A-0150-BC5C-BE57-ED43F82C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2741D-B928-4330-A887-915DC46A60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8192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BC301-34FA-37DB-F6FC-4A61EADD9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E8522-EC68-7217-C7AB-7CF407CE0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222F0-1D54-50B9-A3CD-1A6FFCD4C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621F6-75D8-5496-FCE9-49034E107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4A05-3D07-425C-BB5F-C82380E756E2}" type="datetimeFigureOut">
              <a:rPr lang="en-AU" smtClean="0"/>
              <a:t>6/09/2025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559D1-34A4-0ACB-A89C-95E26C2F1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0EAE3-94A0-E8F8-0384-51C19179E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2741D-B928-4330-A887-915DC46A60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6857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3A26B-FC46-46D0-D945-832241AE0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7DEA6-05B0-92D7-0149-4DCFEA5F14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35ACD-71DF-4411-AB04-227CBA4C9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62739-9338-E209-7465-D99A4B44A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4A05-3D07-425C-BB5F-C82380E756E2}" type="datetimeFigureOut">
              <a:rPr lang="en-AU" smtClean="0"/>
              <a:t>6/09/2025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4B452-C115-030B-C634-81719E278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B7E77-5ECB-0924-5D87-1C5632D3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2741D-B928-4330-A887-915DC46A60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4511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52A92-5ECC-FDB9-E29E-BCAD33FF1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58034A-B2AA-F7E4-0F05-57F34D19D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EED00-8583-B85D-C534-BBE4F1E2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4A05-3D07-425C-BB5F-C82380E756E2}" type="datetimeFigureOut">
              <a:rPr lang="en-AU" smtClean="0"/>
              <a:t>6/09/2025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60375-F119-E578-2852-55A9631FB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FF1E1-ED7E-DAD4-D413-01D58DC22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2741D-B928-4330-A887-915DC46A60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3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978BC5-F49F-EA09-C539-61166B8B1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3C7B2-B9F3-F9EE-9B6B-28A2E83AB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095E5-F20B-7B23-59D5-2B1E21222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4A05-3D07-425C-BB5F-C82380E756E2}" type="datetimeFigureOut">
              <a:rPr lang="en-AU" smtClean="0"/>
              <a:t>6/09/2025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130B6-4D88-FC9F-5B3B-1F64511C4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70035-6100-12E0-7837-6F915BC30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2741D-B928-4330-A887-915DC46A60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997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4AC8B-4AD6-C3F3-1200-ADB9E2689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37297-4BE2-A68E-43F2-24513A923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19BB0-37CE-B0BA-C190-3D1C5BF95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B4A05-3D07-425C-BB5F-C82380E756E2}" type="datetimeFigureOut">
              <a:rPr lang="en-AU" smtClean="0"/>
              <a:t>6/09/2025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D0092-0A46-0996-A415-465EC7D2E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90505-0CFA-E35C-AC45-E66FE7FCD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72741D-B928-4330-A887-915DC46A60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0208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B83C16-32D3-1E67-25EB-9804E5B9D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126072"/>
              </p:ext>
            </p:extLst>
          </p:nvPr>
        </p:nvGraphicFramePr>
        <p:xfrm>
          <a:off x="-3177556" y="4968240"/>
          <a:ext cx="20687921" cy="415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4542">
                  <a:extLst>
                    <a:ext uri="{9D8B030D-6E8A-4147-A177-3AD203B41FA5}">
                      <a16:colId xmlns:a16="http://schemas.microsoft.com/office/drawing/2014/main" val="1294673850"/>
                    </a:ext>
                  </a:extLst>
                </a:gridCol>
                <a:gridCol w="798004">
                  <a:extLst>
                    <a:ext uri="{9D8B030D-6E8A-4147-A177-3AD203B41FA5}">
                      <a16:colId xmlns:a16="http://schemas.microsoft.com/office/drawing/2014/main" val="3300775190"/>
                    </a:ext>
                  </a:extLst>
                </a:gridCol>
                <a:gridCol w="1648142">
                  <a:extLst>
                    <a:ext uri="{9D8B030D-6E8A-4147-A177-3AD203B41FA5}">
                      <a16:colId xmlns:a16="http://schemas.microsoft.com/office/drawing/2014/main" val="2102684620"/>
                    </a:ext>
                  </a:extLst>
                </a:gridCol>
                <a:gridCol w="2794698">
                  <a:extLst>
                    <a:ext uri="{9D8B030D-6E8A-4147-A177-3AD203B41FA5}">
                      <a16:colId xmlns:a16="http://schemas.microsoft.com/office/drawing/2014/main" val="1161973996"/>
                    </a:ext>
                  </a:extLst>
                </a:gridCol>
                <a:gridCol w="2714434">
                  <a:extLst>
                    <a:ext uri="{9D8B030D-6E8A-4147-A177-3AD203B41FA5}">
                      <a16:colId xmlns:a16="http://schemas.microsoft.com/office/drawing/2014/main" val="1150974890"/>
                    </a:ext>
                  </a:extLst>
                </a:gridCol>
                <a:gridCol w="4329689">
                  <a:extLst>
                    <a:ext uri="{9D8B030D-6E8A-4147-A177-3AD203B41FA5}">
                      <a16:colId xmlns:a16="http://schemas.microsoft.com/office/drawing/2014/main" val="3291615015"/>
                    </a:ext>
                  </a:extLst>
                </a:gridCol>
                <a:gridCol w="2414206">
                  <a:extLst>
                    <a:ext uri="{9D8B030D-6E8A-4147-A177-3AD203B41FA5}">
                      <a16:colId xmlns:a16="http://schemas.microsoft.com/office/drawing/2014/main" val="559101625"/>
                    </a:ext>
                  </a:extLst>
                </a:gridCol>
                <a:gridCol w="2414206">
                  <a:extLst>
                    <a:ext uri="{9D8B030D-6E8A-4147-A177-3AD203B41FA5}">
                      <a16:colId xmlns:a16="http://schemas.microsoft.com/office/drawing/2014/main" val="32803110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VLAN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Subnet (/24)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Gateway Address (HSRP)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Access Point IP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Static Reservations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DHCP Pool (Router 1)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DHCP Pool (Router 2)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85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Project Management Consultants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61.10.10.0/24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NL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61.10.10.1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61.10.10.100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61.10.10.2–49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61.10.10.50–99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61.10.10.101–200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10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ICT Staff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61.10.20.0/24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NL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61.10.20.1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61.10.20.100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61.10.20.2–49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61.10.20.50–99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61.10.20.101–200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504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Marketing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61.10.30.0/24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NL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61.10.30.1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61.10.30.100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61.10.30.2–49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61.10.30.50–99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61.10.30.101–200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544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Senior Leadership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61.10.40.0/24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NL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61.10.40.1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61.10.40.100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61.10.40.2–49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61.10.40.50–99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61.10.40.101–200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91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Human Resources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61.10.50.0/24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NL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61.10.50.1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61.10.50.100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61.10.50.2–49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61.10.50.50–99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61.10.50.101–200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421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Administrative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61.10.60.0/24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NL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61.10.60.1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61.10.60.100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61.10.60.2–49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61.10.60.50-99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61.10.60.101-200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501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Security Systems (CCTV/IoT/RFID)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70</a:t>
                      </a:r>
                      <a:endParaRPr lang="en-A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61.10.70.0/24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NL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61.10.70.1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Management PC: 61.10.70.10–20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RFID: 61.10.70.150–169 </a:t>
                      </a:r>
                    </a:p>
                    <a:p>
                      <a:pPr algn="ctr"/>
                      <a:r>
                        <a:rPr lang="en-US" dirty="0"/>
                        <a:t>Cams: 61.10.70.170–200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IoT: 61.10.70.201–230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80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Server Room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80</a:t>
                      </a:r>
                      <a:endParaRPr lang="en-A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61.10.70.0/24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NL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61.10.80.1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61.10.60.10-19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49437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CD71A10-F9EB-F5E3-9DCD-377B3D3F7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669962"/>
              </p:ext>
            </p:extLst>
          </p:nvPr>
        </p:nvGraphicFramePr>
        <p:xfrm>
          <a:off x="-2298748" y="1010032"/>
          <a:ext cx="3949510" cy="258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170">
                  <a:extLst>
                    <a:ext uri="{9D8B030D-6E8A-4147-A177-3AD203B41FA5}">
                      <a16:colId xmlns:a16="http://schemas.microsoft.com/office/drawing/2014/main" val="1294673850"/>
                    </a:ext>
                  </a:extLst>
                </a:gridCol>
                <a:gridCol w="1819340">
                  <a:extLst>
                    <a:ext uri="{9D8B030D-6E8A-4147-A177-3AD203B41FA5}">
                      <a16:colId xmlns:a16="http://schemas.microsoft.com/office/drawing/2014/main" val="225181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Router 1 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IP Address (/24)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853040"/>
                  </a:ext>
                </a:extLst>
              </a:tr>
              <a:tr h="3205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61.10.80.2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10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61.10.80.3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504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61.10.80.4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544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61.10.80.5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91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891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38058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9D120-0D36-2211-E622-E49465586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667761"/>
              </p:ext>
            </p:extLst>
          </p:nvPr>
        </p:nvGraphicFramePr>
        <p:xfrm>
          <a:off x="1872164" y="1010032"/>
          <a:ext cx="4002434" cy="258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170">
                  <a:extLst>
                    <a:ext uri="{9D8B030D-6E8A-4147-A177-3AD203B41FA5}">
                      <a16:colId xmlns:a16="http://schemas.microsoft.com/office/drawing/2014/main" val="3909643755"/>
                    </a:ext>
                  </a:extLst>
                </a:gridCol>
                <a:gridCol w="1872264">
                  <a:extLst>
                    <a:ext uri="{9D8B030D-6E8A-4147-A177-3AD203B41FA5}">
                      <a16:colId xmlns:a16="http://schemas.microsoft.com/office/drawing/2014/main" val="14305985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Router 2 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IP Address (/24)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645624"/>
                  </a:ext>
                </a:extLst>
              </a:tr>
              <a:tr h="3205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61.10.80.6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79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61.10.80.7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783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61.10.80.8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0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61.10.80.9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9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51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25615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29F8CA-CD75-6C89-585D-D77BCAE84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386733"/>
              </p:ext>
            </p:extLst>
          </p:nvPr>
        </p:nvGraphicFramePr>
        <p:xfrm>
          <a:off x="6096000" y="1010032"/>
          <a:ext cx="6079680" cy="3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170">
                  <a:extLst>
                    <a:ext uri="{9D8B030D-6E8A-4147-A177-3AD203B41FA5}">
                      <a16:colId xmlns:a16="http://schemas.microsoft.com/office/drawing/2014/main" val="136234768"/>
                    </a:ext>
                  </a:extLst>
                </a:gridCol>
                <a:gridCol w="1819340">
                  <a:extLst>
                    <a:ext uri="{9D8B030D-6E8A-4147-A177-3AD203B41FA5}">
                      <a16:colId xmlns:a16="http://schemas.microsoft.com/office/drawing/2014/main" val="2140280273"/>
                    </a:ext>
                  </a:extLst>
                </a:gridCol>
                <a:gridCol w="2130170">
                  <a:extLst>
                    <a:ext uri="{9D8B030D-6E8A-4147-A177-3AD203B41FA5}">
                      <a16:colId xmlns:a16="http://schemas.microsoft.com/office/drawing/2014/main" val="39096437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Firewall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IP Address (/24)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WAN Connected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645624"/>
                  </a:ext>
                </a:extLst>
              </a:tr>
              <a:tr h="3205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61.10.80.10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79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61.10.80.11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783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61.10.80.12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Parramatta </a:t>
                      </a:r>
                    </a:p>
                    <a:p>
                      <a:pPr algn="ctr"/>
                      <a:r>
                        <a:rPr lang="en-US" b="0" dirty="0"/>
                        <a:t>(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Eth4: 85.20.80.14</a:t>
                      </a:r>
                      <a:r>
                        <a:rPr lang="en-US" b="0" dirty="0"/>
                        <a:t>)</a:t>
                      </a:r>
                      <a:endParaRPr lang="en-A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0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61.10.80.13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Newcastle</a:t>
                      </a:r>
                    </a:p>
                    <a:p>
                      <a:pPr algn="ctr"/>
                      <a:r>
                        <a:rPr lang="en-US" b="0" dirty="0"/>
                        <a:t>(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Eth2: 85.30.80.12</a:t>
                      </a:r>
                      <a:r>
                        <a:rPr lang="en-US" b="0" dirty="0"/>
                        <a:t>)</a:t>
                      </a:r>
                      <a:endParaRPr lang="en-A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9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61.10.80.14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Wollongong</a:t>
                      </a:r>
                    </a:p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Eth4: 85.40.80.14</a:t>
                      </a:r>
                      <a:r>
                        <a:rPr lang="en-US" dirty="0"/>
                        <a:t>)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51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61.10.80.15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256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220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95CEF8-B5FD-35A2-8906-D691B2962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197803"/>
              </p:ext>
            </p:extLst>
          </p:nvPr>
        </p:nvGraphicFramePr>
        <p:xfrm>
          <a:off x="-3467875" y="847959"/>
          <a:ext cx="20424119" cy="303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4542">
                  <a:extLst>
                    <a:ext uri="{9D8B030D-6E8A-4147-A177-3AD203B41FA5}">
                      <a16:colId xmlns:a16="http://schemas.microsoft.com/office/drawing/2014/main" val="1294673850"/>
                    </a:ext>
                  </a:extLst>
                </a:gridCol>
                <a:gridCol w="798004">
                  <a:extLst>
                    <a:ext uri="{9D8B030D-6E8A-4147-A177-3AD203B41FA5}">
                      <a16:colId xmlns:a16="http://schemas.microsoft.com/office/drawing/2014/main" val="3300775190"/>
                    </a:ext>
                  </a:extLst>
                </a:gridCol>
                <a:gridCol w="1648142">
                  <a:extLst>
                    <a:ext uri="{9D8B030D-6E8A-4147-A177-3AD203B41FA5}">
                      <a16:colId xmlns:a16="http://schemas.microsoft.com/office/drawing/2014/main" val="2102684620"/>
                    </a:ext>
                  </a:extLst>
                </a:gridCol>
                <a:gridCol w="2794698">
                  <a:extLst>
                    <a:ext uri="{9D8B030D-6E8A-4147-A177-3AD203B41FA5}">
                      <a16:colId xmlns:a16="http://schemas.microsoft.com/office/drawing/2014/main" val="1161973996"/>
                    </a:ext>
                  </a:extLst>
                </a:gridCol>
                <a:gridCol w="2714434">
                  <a:extLst>
                    <a:ext uri="{9D8B030D-6E8A-4147-A177-3AD203B41FA5}">
                      <a16:colId xmlns:a16="http://schemas.microsoft.com/office/drawing/2014/main" val="1150974890"/>
                    </a:ext>
                  </a:extLst>
                </a:gridCol>
                <a:gridCol w="4065887">
                  <a:extLst>
                    <a:ext uri="{9D8B030D-6E8A-4147-A177-3AD203B41FA5}">
                      <a16:colId xmlns:a16="http://schemas.microsoft.com/office/drawing/2014/main" val="3291615015"/>
                    </a:ext>
                  </a:extLst>
                </a:gridCol>
                <a:gridCol w="2414206">
                  <a:extLst>
                    <a:ext uri="{9D8B030D-6E8A-4147-A177-3AD203B41FA5}">
                      <a16:colId xmlns:a16="http://schemas.microsoft.com/office/drawing/2014/main" val="559101625"/>
                    </a:ext>
                  </a:extLst>
                </a:gridCol>
                <a:gridCol w="2414206">
                  <a:extLst>
                    <a:ext uri="{9D8B030D-6E8A-4147-A177-3AD203B41FA5}">
                      <a16:colId xmlns:a16="http://schemas.microsoft.com/office/drawing/2014/main" val="32803110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VLAN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Subnet (/24)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Gateway Address (HSRP)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Access Point IP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Static Reservations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DHCP Pool (Router 1)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DHCP Pool (Router 2)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85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Electricians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85.20.10.0/24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85.20.10.1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85.20.10.100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85.20.10.50-99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85.20.10.101-200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10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Electrical Engineers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85.20.20.0/24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85.20.20.1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85.20.20.100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85.20.20.50-99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85.20.20.101-200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504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Site Supervisors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85.20.30.0/24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85.20.30.1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85.20.30.100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85.20.30.50-99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85.20.30.101-200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544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 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85.20.40.0/24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85.20.40.1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85.20.40.100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85.20.40.50-99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85.20.40.101-200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91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Security Systems (CCTV/IoT/RFID)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85.20.50.0/24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85.20.50.1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85.20.50.100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Management PC: 85.20.70.10–20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RFID: 85.20.70.150–169 </a:t>
                      </a:r>
                    </a:p>
                    <a:p>
                      <a:pPr algn="ctr"/>
                      <a:r>
                        <a:rPr lang="en-US" dirty="0"/>
                        <a:t>Cams: 85.20.70.170–200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IoT: 85.20.70.201–230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42158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6FAF5E-CEEB-3C98-A535-EC0740699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894669"/>
              </p:ext>
            </p:extLst>
          </p:nvPr>
        </p:nvGraphicFramePr>
        <p:xfrm>
          <a:off x="-2627528" y="4272280"/>
          <a:ext cx="3949510" cy="258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170">
                  <a:extLst>
                    <a:ext uri="{9D8B030D-6E8A-4147-A177-3AD203B41FA5}">
                      <a16:colId xmlns:a16="http://schemas.microsoft.com/office/drawing/2014/main" val="1294673850"/>
                    </a:ext>
                  </a:extLst>
                </a:gridCol>
                <a:gridCol w="1819340">
                  <a:extLst>
                    <a:ext uri="{9D8B030D-6E8A-4147-A177-3AD203B41FA5}">
                      <a16:colId xmlns:a16="http://schemas.microsoft.com/office/drawing/2014/main" val="225181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Router 1 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IP Address (/24)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853040"/>
                  </a:ext>
                </a:extLst>
              </a:tr>
              <a:tr h="3205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85.20.80.2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10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85.20.80.3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504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85.20.80.4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544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85.20.80.5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91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891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380586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517723-719D-8F8A-875B-A76D14C3C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631308"/>
              </p:ext>
            </p:extLst>
          </p:nvPr>
        </p:nvGraphicFramePr>
        <p:xfrm>
          <a:off x="1543384" y="4272280"/>
          <a:ext cx="4002434" cy="258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170">
                  <a:extLst>
                    <a:ext uri="{9D8B030D-6E8A-4147-A177-3AD203B41FA5}">
                      <a16:colId xmlns:a16="http://schemas.microsoft.com/office/drawing/2014/main" val="3909643755"/>
                    </a:ext>
                  </a:extLst>
                </a:gridCol>
                <a:gridCol w="1872264">
                  <a:extLst>
                    <a:ext uri="{9D8B030D-6E8A-4147-A177-3AD203B41FA5}">
                      <a16:colId xmlns:a16="http://schemas.microsoft.com/office/drawing/2014/main" val="14305985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Router 2 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IP Address (/24)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645624"/>
                  </a:ext>
                </a:extLst>
              </a:tr>
              <a:tr h="3205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85.20.80.6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79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85.20.80.7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783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85.20.80.8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0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85.20.80.9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9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51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25615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903B61-3E44-7A57-59E1-545F1123A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455580"/>
              </p:ext>
            </p:extLst>
          </p:nvPr>
        </p:nvGraphicFramePr>
        <p:xfrm>
          <a:off x="5767220" y="4272280"/>
          <a:ext cx="6079680" cy="3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170">
                  <a:extLst>
                    <a:ext uri="{9D8B030D-6E8A-4147-A177-3AD203B41FA5}">
                      <a16:colId xmlns:a16="http://schemas.microsoft.com/office/drawing/2014/main" val="136234768"/>
                    </a:ext>
                  </a:extLst>
                </a:gridCol>
                <a:gridCol w="1819340">
                  <a:extLst>
                    <a:ext uri="{9D8B030D-6E8A-4147-A177-3AD203B41FA5}">
                      <a16:colId xmlns:a16="http://schemas.microsoft.com/office/drawing/2014/main" val="2140280273"/>
                    </a:ext>
                  </a:extLst>
                </a:gridCol>
                <a:gridCol w="2130170">
                  <a:extLst>
                    <a:ext uri="{9D8B030D-6E8A-4147-A177-3AD203B41FA5}">
                      <a16:colId xmlns:a16="http://schemas.microsoft.com/office/drawing/2014/main" val="39096437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Firewall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IP Address (/24)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WAN Connected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645624"/>
                  </a:ext>
                </a:extLst>
              </a:tr>
              <a:tr h="3205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85.20.80.10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79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85.20.80.11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783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85.20.80.12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Wollongong</a:t>
                      </a:r>
                    </a:p>
                    <a:p>
                      <a:pPr algn="ctr"/>
                      <a:r>
                        <a:rPr lang="en-US" b="0" dirty="0"/>
                        <a:t>(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Eth2: 85.40.80.12</a:t>
                      </a:r>
                      <a:r>
                        <a:rPr lang="en-US" b="0" dirty="0"/>
                        <a:t>)</a:t>
                      </a:r>
                      <a:endParaRPr lang="en-A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0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85.20.80.13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Newcastle</a:t>
                      </a:r>
                    </a:p>
                    <a:p>
                      <a:pPr algn="ctr"/>
                      <a:r>
                        <a:rPr lang="en-US" b="0" dirty="0"/>
                        <a:t>(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Eth3: 85.30.80.13</a:t>
                      </a:r>
                      <a:r>
                        <a:rPr lang="en-US" b="0" dirty="0"/>
                        <a:t>)</a:t>
                      </a:r>
                      <a:endParaRPr lang="en-A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9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85.20.80.14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Sydney HQ</a:t>
                      </a:r>
                    </a:p>
                    <a:p>
                      <a:pPr algn="ctr"/>
                      <a:r>
                        <a:rPr lang="en-US" b="0" dirty="0"/>
                        <a:t>(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Eth2: 61.10.80.12</a:t>
                      </a:r>
                      <a:r>
                        <a:rPr lang="en-US" b="0" dirty="0"/>
                        <a:t>)</a:t>
                      </a:r>
                      <a:endParaRPr lang="en-A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51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85.20.80.15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256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0294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C22B76-5B30-CA8F-2769-DBC21FCD6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64127"/>
              </p:ext>
            </p:extLst>
          </p:nvPr>
        </p:nvGraphicFramePr>
        <p:xfrm>
          <a:off x="-3467875" y="847959"/>
          <a:ext cx="20424119" cy="303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4542">
                  <a:extLst>
                    <a:ext uri="{9D8B030D-6E8A-4147-A177-3AD203B41FA5}">
                      <a16:colId xmlns:a16="http://schemas.microsoft.com/office/drawing/2014/main" val="1294673850"/>
                    </a:ext>
                  </a:extLst>
                </a:gridCol>
                <a:gridCol w="798004">
                  <a:extLst>
                    <a:ext uri="{9D8B030D-6E8A-4147-A177-3AD203B41FA5}">
                      <a16:colId xmlns:a16="http://schemas.microsoft.com/office/drawing/2014/main" val="3300775190"/>
                    </a:ext>
                  </a:extLst>
                </a:gridCol>
                <a:gridCol w="1648142">
                  <a:extLst>
                    <a:ext uri="{9D8B030D-6E8A-4147-A177-3AD203B41FA5}">
                      <a16:colId xmlns:a16="http://schemas.microsoft.com/office/drawing/2014/main" val="2102684620"/>
                    </a:ext>
                  </a:extLst>
                </a:gridCol>
                <a:gridCol w="2794698">
                  <a:extLst>
                    <a:ext uri="{9D8B030D-6E8A-4147-A177-3AD203B41FA5}">
                      <a16:colId xmlns:a16="http://schemas.microsoft.com/office/drawing/2014/main" val="1161973996"/>
                    </a:ext>
                  </a:extLst>
                </a:gridCol>
                <a:gridCol w="2714434">
                  <a:extLst>
                    <a:ext uri="{9D8B030D-6E8A-4147-A177-3AD203B41FA5}">
                      <a16:colId xmlns:a16="http://schemas.microsoft.com/office/drawing/2014/main" val="1150974890"/>
                    </a:ext>
                  </a:extLst>
                </a:gridCol>
                <a:gridCol w="4065887">
                  <a:extLst>
                    <a:ext uri="{9D8B030D-6E8A-4147-A177-3AD203B41FA5}">
                      <a16:colId xmlns:a16="http://schemas.microsoft.com/office/drawing/2014/main" val="3291615015"/>
                    </a:ext>
                  </a:extLst>
                </a:gridCol>
                <a:gridCol w="2414206">
                  <a:extLst>
                    <a:ext uri="{9D8B030D-6E8A-4147-A177-3AD203B41FA5}">
                      <a16:colId xmlns:a16="http://schemas.microsoft.com/office/drawing/2014/main" val="559101625"/>
                    </a:ext>
                  </a:extLst>
                </a:gridCol>
                <a:gridCol w="2414206">
                  <a:extLst>
                    <a:ext uri="{9D8B030D-6E8A-4147-A177-3AD203B41FA5}">
                      <a16:colId xmlns:a16="http://schemas.microsoft.com/office/drawing/2014/main" val="32803110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VLAN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Subnet (/24)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Gateway Address (HSRP)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Access Point IP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Static Reservations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DHCP Pool (Router 1)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DHCP Pool (Router 2)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85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Electricians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85.30.10.0/24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85.30.10.1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85.30.10.100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85.30.10.50-99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85.30.10.101-200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10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Electrical Engineers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85.30.20.0/24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85.30.20.1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85.30.20.100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85.30.20.50-99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85.30.20.101-200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504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Site Supervisors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85.30.30.0/24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85.30.30.1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85.30.30.100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85.30.30.50-99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85.30.30.101-200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544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 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85.30.40.0/24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85.30.40.1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85.30.40.100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85.30.40.50-99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85.30.40.101-200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91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Security Systems (CCTV/IoT/RFID)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85.30.50.0/24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85.30.50.1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85.30.50.100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Management PC: 85.30.70.10–20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RFID: 85.30.70.150–169 </a:t>
                      </a:r>
                    </a:p>
                    <a:p>
                      <a:pPr algn="ctr"/>
                      <a:r>
                        <a:rPr lang="en-US" dirty="0"/>
                        <a:t>Cams: 85.30.70.170–200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IoT: 85.30.70.201–230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421581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566AD4-88FC-A04B-B492-DEC86A183F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912961"/>
              </p:ext>
            </p:extLst>
          </p:nvPr>
        </p:nvGraphicFramePr>
        <p:xfrm>
          <a:off x="-4646828" y="4717181"/>
          <a:ext cx="3949510" cy="258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170">
                  <a:extLst>
                    <a:ext uri="{9D8B030D-6E8A-4147-A177-3AD203B41FA5}">
                      <a16:colId xmlns:a16="http://schemas.microsoft.com/office/drawing/2014/main" val="1294673850"/>
                    </a:ext>
                  </a:extLst>
                </a:gridCol>
                <a:gridCol w="1819340">
                  <a:extLst>
                    <a:ext uri="{9D8B030D-6E8A-4147-A177-3AD203B41FA5}">
                      <a16:colId xmlns:a16="http://schemas.microsoft.com/office/drawing/2014/main" val="225181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Router 1 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IP Address (/24)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853040"/>
                  </a:ext>
                </a:extLst>
              </a:tr>
              <a:tr h="3205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85.30.80.2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10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85.30.80.3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504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85.30.80.4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544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85.30.80.5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91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891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38058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9A37D5-C16A-367E-AA4B-84FE1A2CD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446835"/>
              </p:ext>
            </p:extLst>
          </p:nvPr>
        </p:nvGraphicFramePr>
        <p:xfrm>
          <a:off x="774700" y="4376821"/>
          <a:ext cx="4002434" cy="258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170">
                  <a:extLst>
                    <a:ext uri="{9D8B030D-6E8A-4147-A177-3AD203B41FA5}">
                      <a16:colId xmlns:a16="http://schemas.microsoft.com/office/drawing/2014/main" val="3909643755"/>
                    </a:ext>
                  </a:extLst>
                </a:gridCol>
                <a:gridCol w="1872264">
                  <a:extLst>
                    <a:ext uri="{9D8B030D-6E8A-4147-A177-3AD203B41FA5}">
                      <a16:colId xmlns:a16="http://schemas.microsoft.com/office/drawing/2014/main" val="14305985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Router 2 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IP Address (/24)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645624"/>
                  </a:ext>
                </a:extLst>
              </a:tr>
              <a:tr h="3205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85.30.80.6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79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85.30.80.7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783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85.30.80.8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0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85.30.80.9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9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51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25615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B741DB-D4D4-F884-6CEE-B1FB1747A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334238"/>
              </p:ext>
            </p:extLst>
          </p:nvPr>
        </p:nvGraphicFramePr>
        <p:xfrm>
          <a:off x="5337620" y="4376821"/>
          <a:ext cx="6079680" cy="3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170">
                  <a:extLst>
                    <a:ext uri="{9D8B030D-6E8A-4147-A177-3AD203B41FA5}">
                      <a16:colId xmlns:a16="http://schemas.microsoft.com/office/drawing/2014/main" val="136234768"/>
                    </a:ext>
                  </a:extLst>
                </a:gridCol>
                <a:gridCol w="1819340">
                  <a:extLst>
                    <a:ext uri="{9D8B030D-6E8A-4147-A177-3AD203B41FA5}">
                      <a16:colId xmlns:a16="http://schemas.microsoft.com/office/drawing/2014/main" val="2140280273"/>
                    </a:ext>
                  </a:extLst>
                </a:gridCol>
                <a:gridCol w="2130170">
                  <a:extLst>
                    <a:ext uri="{9D8B030D-6E8A-4147-A177-3AD203B41FA5}">
                      <a16:colId xmlns:a16="http://schemas.microsoft.com/office/drawing/2014/main" val="39096437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Firewall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IP Address (/24)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WAN Connected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645624"/>
                  </a:ext>
                </a:extLst>
              </a:tr>
              <a:tr h="3205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85.30.80.10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79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85.30.80.11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783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85.30.80.12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/>
                        <a:t>Sydney HQ</a:t>
                      </a:r>
                    </a:p>
                    <a:p>
                      <a:pPr algn="ctr"/>
                      <a:r>
                        <a:rPr lang="en-US" b="0" i="0" dirty="0"/>
                        <a:t>(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Eth3: 61.10.80.13</a:t>
                      </a:r>
                      <a:r>
                        <a:rPr lang="en-US" b="0" i="0" dirty="0"/>
                        <a:t>)</a:t>
                      </a:r>
                      <a:endParaRPr lang="en-AU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0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85.30.80.13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/>
                        <a:t>Parramatta</a:t>
                      </a:r>
                    </a:p>
                    <a:p>
                      <a:pPr algn="ctr"/>
                      <a:r>
                        <a:rPr lang="en-US" b="0" i="0" dirty="0"/>
                        <a:t>(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Eth3: 85.20.80.13</a:t>
                      </a:r>
                      <a:r>
                        <a:rPr lang="en-US" b="0" i="0" dirty="0"/>
                        <a:t>)</a:t>
                      </a:r>
                      <a:endParaRPr lang="en-AU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9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85.30.80.14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/>
                        <a:t>Wollongong</a:t>
                      </a:r>
                    </a:p>
                    <a:p>
                      <a:pPr algn="ctr"/>
                      <a:r>
                        <a:rPr lang="en-US" b="0" i="0" dirty="0"/>
                        <a:t>(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Eth3: 85.40.80.13</a:t>
                      </a:r>
                      <a:r>
                        <a:rPr lang="en-US" b="0" i="0" dirty="0"/>
                        <a:t>)</a:t>
                      </a:r>
                      <a:endParaRPr lang="en-AU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51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85.30.80.15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256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935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E01AB-9CBF-DCBF-B5D5-A48422E1D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C5E7EF-E4DF-0340-4039-0966B6D72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178458"/>
              </p:ext>
            </p:extLst>
          </p:nvPr>
        </p:nvGraphicFramePr>
        <p:xfrm>
          <a:off x="-3467875" y="847959"/>
          <a:ext cx="20424119" cy="303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4542">
                  <a:extLst>
                    <a:ext uri="{9D8B030D-6E8A-4147-A177-3AD203B41FA5}">
                      <a16:colId xmlns:a16="http://schemas.microsoft.com/office/drawing/2014/main" val="1294673850"/>
                    </a:ext>
                  </a:extLst>
                </a:gridCol>
                <a:gridCol w="798004">
                  <a:extLst>
                    <a:ext uri="{9D8B030D-6E8A-4147-A177-3AD203B41FA5}">
                      <a16:colId xmlns:a16="http://schemas.microsoft.com/office/drawing/2014/main" val="3300775190"/>
                    </a:ext>
                  </a:extLst>
                </a:gridCol>
                <a:gridCol w="1648142">
                  <a:extLst>
                    <a:ext uri="{9D8B030D-6E8A-4147-A177-3AD203B41FA5}">
                      <a16:colId xmlns:a16="http://schemas.microsoft.com/office/drawing/2014/main" val="2102684620"/>
                    </a:ext>
                  </a:extLst>
                </a:gridCol>
                <a:gridCol w="2794698">
                  <a:extLst>
                    <a:ext uri="{9D8B030D-6E8A-4147-A177-3AD203B41FA5}">
                      <a16:colId xmlns:a16="http://schemas.microsoft.com/office/drawing/2014/main" val="1161973996"/>
                    </a:ext>
                  </a:extLst>
                </a:gridCol>
                <a:gridCol w="2714434">
                  <a:extLst>
                    <a:ext uri="{9D8B030D-6E8A-4147-A177-3AD203B41FA5}">
                      <a16:colId xmlns:a16="http://schemas.microsoft.com/office/drawing/2014/main" val="1150974890"/>
                    </a:ext>
                  </a:extLst>
                </a:gridCol>
                <a:gridCol w="4065887">
                  <a:extLst>
                    <a:ext uri="{9D8B030D-6E8A-4147-A177-3AD203B41FA5}">
                      <a16:colId xmlns:a16="http://schemas.microsoft.com/office/drawing/2014/main" val="3291615015"/>
                    </a:ext>
                  </a:extLst>
                </a:gridCol>
                <a:gridCol w="2414206">
                  <a:extLst>
                    <a:ext uri="{9D8B030D-6E8A-4147-A177-3AD203B41FA5}">
                      <a16:colId xmlns:a16="http://schemas.microsoft.com/office/drawing/2014/main" val="559101625"/>
                    </a:ext>
                  </a:extLst>
                </a:gridCol>
                <a:gridCol w="2414206">
                  <a:extLst>
                    <a:ext uri="{9D8B030D-6E8A-4147-A177-3AD203B41FA5}">
                      <a16:colId xmlns:a16="http://schemas.microsoft.com/office/drawing/2014/main" val="32803110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VLAN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Subnet (/24)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Gateway Address (HSRP)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Access Point IP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Static Reservations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DHCP Pool (Router 1)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DHCP Pool (Router 2)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85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Electricians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85.40.10.0/24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85.40.10.1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85.40.10.100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85.40.10.50-99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85.40.10.101-200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10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Electrical Engineers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85.40.20.0/24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85.40.20.1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85.40.20.100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85.40.20.50-99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85.40.20.101-200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504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Site Supervisors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85.40.30.0/24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85.40.30.1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85.40.30.100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85.40.30.50-99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85.40.30.101-200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544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 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85.40.40.0/24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85.40.40.1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85.40.40.100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85.40.40.50-99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85.40.40.101-200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91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Security Systems (CCTV/IoT/RFID)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85.40.50.0/24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85.40.50.1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85.40.50.100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Management PC: 85.40.70.10–20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RFID: 85.40.70.150–169 </a:t>
                      </a:r>
                    </a:p>
                    <a:p>
                      <a:pPr algn="ctr"/>
                      <a:r>
                        <a:rPr lang="en-US" dirty="0"/>
                        <a:t>Cams: 85.40.70.170–200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IoT: 85.40.70.201–230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42158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DDB847-6129-4D9F-9E99-F69386CD5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066184"/>
              </p:ext>
            </p:extLst>
          </p:nvPr>
        </p:nvGraphicFramePr>
        <p:xfrm>
          <a:off x="-4646828" y="4717181"/>
          <a:ext cx="3949510" cy="258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170">
                  <a:extLst>
                    <a:ext uri="{9D8B030D-6E8A-4147-A177-3AD203B41FA5}">
                      <a16:colId xmlns:a16="http://schemas.microsoft.com/office/drawing/2014/main" val="1294673850"/>
                    </a:ext>
                  </a:extLst>
                </a:gridCol>
                <a:gridCol w="1819340">
                  <a:extLst>
                    <a:ext uri="{9D8B030D-6E8A-4147-A177-3AD203B41FA5}">
                      <a16:colId xmlns:a16="http://schemas.microsoft.com/office/drawing/2014/main" val="225181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Router 1 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IP Address (/24)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853040"/>
                  </a:ext>
                </a:extLst>
              </a:tr>
              <a:tr h="3205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85.40.80.2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10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85.40.80.3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504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85.40.80.4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544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85.40.80.5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916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891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38058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200EA5-D8CD-5CBD-6AE1-310BD5A32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305542"/>
              </p:ext>
            </p:extLst>
          </p:nvPr>
        </p:nvGraphicFramePr>
        <p:xfrm>
          <a:off x="774700" y="4376821"/>
          <a:ext cx="4002434" cy="258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170">
                  <a:extLst>
                    <a:ext uri="{9D8B030D-6E8A-4147-A177-3AD203B41FA5}">
                      <a16:colId xmlns:a16="http://schemas.microsoft.com/office/drawing/2014/main" val="3909643755"/>
                    </a:ext>
                  </a:extLst>
                </a:gridCol>
                <a:gridCol w="1872264">
                  <a:extLst>
                    <a:ext uri="{9D8B030D-6E8A-4147-A177-3AD203B41FA5}">
                      <a16:colId xmlns:a16="http://schemas.microsoft.com/office/drawing/2014/main" val="14305985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Router 2 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IP Address (/24)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645624"/>
                  </a:ext>
                </a:extLst>
              </a:tr>
              <a:tr h="3205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85.40.80.6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79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85.40.80.7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783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85.40.80.8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0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85.40.80.9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9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51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25615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FB6CBB-9E88-BCD1-2F64-CDB5B6D7B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740818"/>
              </p:ext>
            </p:extLst>
          </p:nvPr>
        </p:nvGraphicFramePr>
        <p:xfrm>
          <a:off x="5337620" y="4376821"/>
          <a:ext cx="6079680" cy="3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170">
                  <a:extLst>
                    <a:ext uri="{9D8B030D-6E8A-4147-A177-3AD203B41FA5}">
                      <a16:colId xmlns:a16="http://schemas.microsoft.com/office/drawing/2014/main" val="136234768"/>
                    </a:ext>
                  </a:extLst>
                </a:gridCol>
                <a:gridCol w="1819340">
                  <a:extLst>
                    <a:ext uri="{9D8B030D-6E8A-4147-A177-3AD203B41FA5}">
                      <a16:colId xmlns:a16="http://schemas.microsoft.com/office/drawing/2014/main" val="2140280273"/>
                    </a:ext>
                  </a:extLst>
                </a:gridCol>
                <a:gridCol w="2130170">
                  <a:extLst>
                    <a:ext uri="{9D8B030D-6E8A-4147-A177-3AD203B41FA5}">
                      <a16:colId xmlns:a16="http://schemas.microsoft.com/office/drawing/2014/main" val="39096437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Firewall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IP Address (/24)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WAN Connected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645624"/>
                  </a:ext>
                </a:extLst>
              </a:tr>
              <a:tr h="3205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85.40.80.10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79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85.40.80.11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783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85.40.80.12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Parramatta</a:t>
                      </a:r>
                    </a:p>
                    <a:p>
                      <a:pPr algn="ctr"/>
                      <a:r>
                        <a:rPr lang="en-US" b="0" dirty="0"/>
                        <a:t>(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Eth2: 85.20.80.12</a:t>
                      </a:r>
                      <a:r>
                        <a:rPr lang="en-US" b="0" dirty="0"/>
                        <a:t>)</a:t>
                      </a:r>
                      <a:endParaRPr lang="en-A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0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85.40.80.13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Newcastle</a:t>
                      </a:r>
                    </a:p>
                    <a:p>
                      <a:pPr algn="ctr"/>
                      <a:r>
                        <a:rPr lang="en-US" b="0" dirty="0"/>
                        <a:t>(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Eth4: 85.30.80.14</a:t>
                      </a:r>
                      <a:r>
                        <a:rPr lang="en-US" b="0" dirty="0"/>
                        <a:t>)</a:t>
                      </a:r>
                      <a:endParaRPr lang="en-A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9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85.40.80.14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Sydney HQ</a:t>
                      </a:r>
                    </a:p>
                    <a:p>
                      <a:pPr algn="ctr"/>
                      <a:r>
                        <a:rPr lang="en-US" b="0" dirty="0"/>
                        <a:t>(</a:t>
                      </a:r>
                      <a:r>
                        <a:rPr lang="en-A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Eth4: 61.10.80.14</a:t>
                      </a:r>
                      <a:r>
                        <a:rPr lang="en-US" b="0" dirty="0"/>
                        <a:t>)</a:t>
                      </a:r>
                      <a:endParaRPr lang="en-A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51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85.40.80.15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N/A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256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117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B62CB1-3956-464B-7FF8-010BB445C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164603"/>
              </p:ext>
            </p:extLst>
          </p:nvPr>
        </p:nvGraphicFramePr>
        <p:xfrm>
          <a:off x="-5043200" y="1338002"/>
          <a:ext cx="26546738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278">
                  <a:extLst>
                    <a:ext uri="{9D8B030D-6E8A-4147-A177-3AD203B41FA5}">
                      <a16:colId xmlns:a16="http://schemas.microsoft.com/office/drawing/2014/main" val="1294673850"/>
                    </a:ext>
                  </a:extLst>
                </a:gridCol>
                <a:gridCol w="2946150">
                  <a:extLst>
                    <a:ext uri="{9D8B030D-6E8A-4147-A177-3AD203B41FA5}">
                      <a16:colId xmlns:a16="http://schemas.microsoft.com/office/drawing/2014/main" val="225181982"/>
                    </a:ext>
                  </a:extLst>
                </a:gridCol>
                <a:gridCol w="3811896">
                  <a:extLst>
                    <a:ext uri="{9D8B030D-6E8A-4147-A177-3AD203B41FA5}">
                      <a16:colId xmlns:a16="http://schemas.microsoft.com/office/drawing/2014/main" val="3300775190"/>
                    </a:ext>
                  </a:extLst>
                </a:gridCol>
                <a:gridCol w="2946150">
                  <a:extLst>
                    <a:ext uri="{9D8B030D-6E8A-4147-A177-3AD203B41FA5}">
                      <a16:colId xmlns:a16="http://schemas.microsoft.com/office/drawing/2014/main" val="1150974890"/>
                    </a:ext>
                  </a:extLst>
                </a:gridCol>
                <a:gridCol w="3758176">
                  <a:extLst>
                    <a:ext uri="{9D8B030D-6E8A-4147-A177-3AD203B41FA5}">
                      <a16:colId xmlns:a16="http://schemas.microsoft.com/office/drawing/2014/main" val="3019121665"/>
                    </a:ext>
                  </a:extLst>
                </a:gridCol>
                <a:gridCol w="2946150">
                  <a:extLst>
                    <a:ext uri="{9D8B030D-6E8A-4147-A177-3AD203B41FA5}">
                      <a16:colId xmlns:a16="http://schemas.microsoft.com/office/drawing/2014/main" val="3888913317"/>
                    </a:ext>
                  </a:extLst>
                </a:gridCol>
                <a:gridCol w="3834448">
                  <a:extLst>
                    <a:ext uri="{9D8B030D-6E8A-4147-A177-3AD203B41FA5}">
                      <a16:colId xmlns:a16="http://schemas.microsoft.com/office/drawing/2014/main" val="3725340461"/>
                    </a:ext>
                  </a:extLst>
                </a:gridCol>
                <a:gridCol w="2904490">
                  <a:extLst>
                    <a:ext uri="{9D8B030D-6E8A-4147-A177-3AD203B41FA5}">
                      <a16:colId xmlns:a16="http://schemas.microsoft.com/office/drawing/2014/main" val="378521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Firewall Interface (Sydney HQ)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IP Address (61.10.80.0/24)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Firewall Interface (Parramatta HQ)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IP Address (85.20.80.0/24)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Firewall Interface (Newcastle HQ)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IP Address (85.30.80.0/24)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Firewall Interface (Wollongong HQ)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IP Address (85.40.80.0/24)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853040"/>
                  </a:ext>
                </a:extLst>
              </a:tr>
              <a:tr h="3205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61.10.80.12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85.20.80.12</a:t>
                      </a:r>
                      <a:endParaRPr kumimoji="0" lang="en-A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85.30.80.12</a:t>
                      </a:r>
                      <a:endParaRPr kumimoji="0" lang="en-A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85.40.80.12</a:t>
                      </a:r>
                      <a:endParaRPr kumimoji="0" lang="en-A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10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61.10.80.13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85.20.80.13</a:t>
                      </a:r>
                      <a:endParaRPr kumimoji="0" lang="en-A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85.30.80.13</a:t>
                      </a:r>
                      <a:endParaRPr kumimoji="0" lang="en-A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Eth3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85.40.80.13</a:t>
                      </a:r>
                      <a:endParaRPr kumimoji="0" lang="en-A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504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61.10.80.14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85.20.80.14</a:t>
                      </a:r>
                      <a:endParaRPr kumimoji="0" lang="en-A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85.30.80.14</a:t>
                      </a:r>
                      <a:endParaRPr kumimoji="0" lang="en-A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Eth4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85.40.80.14</a:t>
                      </a:r>
                      <a:endParaRPr kumimoji="0" lang="en-A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544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4920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2909</TotalTime>
  <Words>910</Words>
  <Application>Microsoft Office PowerPoint</Application>
  <PresentationFormat>Widescreen</PresentationFormat>
  <Paragraphs>478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Joshnell Briggs Zareno</dc:creator>
  <cp:lastModifiedBy>Joshnell Briggs Zareno</cp:lastModifiedBy>
  <cp:revision>52</cp:revision>
  <dcterms:created xsi:type="dcterms:W3CDTF">2025-09-02T11:40:29Z</dcterms:created>
  <dcterms:modified xsi:type="dcterms:W3CDTF">2025-09-06T12:14:41Z</dcterms:modified>
</cp:coreProperties>
</file>